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Montserrat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  <p:embeddedFont>
      <p:font typeface="Urbanis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6" roundtripDataSignature="AMtx7mjB6ZmbCMiNMLu1J6KJudkywXSe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22" Type="http://schemas.openxmlformats.org/officeDocument/2006/relationships/font" Target="fonts/Urbanist-regular.fntdata"/><Relationship Id="rId21" Type="http://schemas.openxmlformats.org/officeDocument/2006/relationships/font" Target="fonts/Lato-boldItalic.fntdata"/><Relationship Id="rId24" Type="http://schemas.openxmlformats.org/officeDocument/2006/relationships/font" Target="fonts/Urbanist-italic.fntdata"/><Relationship Id="rId23" Type="http://schemas.openxmlformats.org/officeDocument/2006/relationships/font" Target="fonts/Urbanis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Urbanis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Montserrat-bold.fntdata"/><Relationship Id="rId14" Type="http://schemas.openxmlformats.org/officeDocument/2006/relationships/font" Target="fonts/Montserrat-regular.fntdata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italic.fntdata"/><Relationship Id="rId19" Type="http://schemas.openxmlformats.org/officeDocument/2006/relationships/font" Target="fonts/Lato-bold.fntdata"/><Relationship Id="rId18" Type="http://schemas.openxmlformats.org/officeDocument/2006/relationships/font" Target="fonts/La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7" name="Google Shape;18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5" name="Google Shape;20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7" name="Google Shape;2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1" name="Google Shape;23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/>
          <p:nvPr/>
        </p:nvSpPr>
        <p:spPr>
          <a:xfrm rot="5400000">
            <a:off x="10000500" y="673"/>
            <a:ext cx="2191500" cy="2191500"/>
          </a:xfrm>
          <a:prstGeom prst="diagStripe">
            <a:avLst>
              <a:gd fmla="val 0" name="adj"/>
            </a:avLst>
          </a:prstGeom>
          <a:solidFill>
            <a:schemeClr val="lt1">
              <a:alpha val="1960"/>
            </a:scheme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" name="Google Shape;13;p12"/>
          <p:cNvGrpSpPr/>
          <p:nvPr/>
        </p:nvGrpSpPr>
        <p:grpSpPr>
          <a:xfrm>
            <a:off x="0" y="654"/>
            <a:ext cx="6871435" cy="6845694"/>
            <a:chOff x="0" y="75"/>
            <a:chExt cx="5153705" cy="5152950"/>
          </a:xfrm>
        </p:grpSpPr>
        <p:sp>
          <p:nvSpPr>
            <p:cNvPr id="14" name="Google Shape;14;p1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19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19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1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" name="Google Shape;18;p12"/>
          <p:cNvSpPr txBox="1"/>
          <p:nvPr>
            <p:ph type="ctrTitle"/>
          </p:nvPr>
        </p:nvSpPr>
        <p:spPr>
          <a:xfrm>
            <a:off x="4716200" y="2104533"/>
            <a:ext cx="6690000" cy="21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19" name="Google Shape;19;p12"/>
          <p:cNvSpPr txBox="1"/>
          <p:nvPr>
            <p:ph idx="1" type="subTitle"/>
          </p:nvPr>
        </p:nvSpPr>
        <p:spPr>
          <a:xfrm>
            <a:off x="6778600" y="5233233"/>
            <a:ext cx="4627500" cy="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p13"/>
          <p:cNvGrpSpPr/>
          <p:nvPr/>
        </p:nvGrpSpPr>
        <p:grpSpPr>
          <a:xfrm>
            <a:off x="5875053" y="0"/>
            <a:ext cx="6316642" cy="6857248"/>
            <a:chOff x="4406400" y="0"/>
            <a:chExt cx="4737600" cy="5143065"/>
          </a:xfrm>
        </p:grpSpPr>
        <p:sp>
          <p:nvSpPr>
            <p:cNvPr id="23" name="Google Shape;23;p1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2352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1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2352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1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1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1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1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1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1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1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1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1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1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1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1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1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1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1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1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" name="Google Shape;41;p13"/>
          <p:cNvSpPr txBox="1"/>
          <p:nvPr>
            <p:ph type="title"/>
          </p:nvPr>
        </p:nvSpPr>
        <p:spPr>
          <a:xfrm>
            <a:off x="1098467" y="2737333"/>
            <a:ext cx="6116100" cy="15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14"/>
          <p:cNvGrpSpPr/>
          <p:nvPr/>
        </p:nvGrpSpPr>
        <p:grpSpPr>
          <a:xfrm>
            <a:off x="0" y="507989"/>
            <a:ext cx="1383765" cy="1355017"/>
            <a:chOff x="0" y="381001"/>
            <a:chExt cx="1037850" cy="1016288"/>
          </a:xfrm>
        </p:grpSpPr>
        <p:sp>
          <p:nvSpPr>
            <p:cNvPr id="45" name="Google Shape;45;p1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1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" name="Google Shape;47;p14"/>
          <p:cNvSpPr txBox="1"/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48" name="Google Shape;48;p14"/>
          <p:cNvSpPr txBox="1"/>
          <p:nvPr>
            <p:ph idx="1" type="body"/>
          </p:nvPr>
        </p:nvSpPr>
        <p:spPr>
          <a:xfrm>
            <a:off x="1730000" y="2090067"/>
            <a:ext cx="9385200" cy="38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15"/>
          <p:cNvGrpSpPr/>
          <p:nvPr/>
        </p:nvGrpSpPr>
        <p:grpSpPr>
          <a:xfrm>
            <a:off x="0" y="507989"/>
            <a:ext cx="1383765" cy="1355017"/>
            <a:chOff x="0" y="381001"/>
            <a:chExt cx="1037850" cy="1016288"/>
          </a:xfrm>
        </p:grpSpPr>
        <p:sp>
          <p:nvSpPr>
            <p:cNvPr id="52" name="Google Shape;52;p1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1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" name="Google Shape;54;p15"/>
          <p:cNvSpPr txBox="1"/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5" name="Google Shape;55;p15"/>
          <p:cNvSpPr txBox="1"/>
          <p:nvPr>
            <p:ph idx="1" type="body"/>
          </p:nvPr>
        </p:nvSpPr>
        <p:spPr>
          <a:xfrm>
            <a:off x="1730000" y="2090067"/>
            <a:ext cx="4537500" cy="38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2" type="body"/>
          </p:nvPr>
        </p:nvSpPr>
        <p:spPr>
          <a:xfrm>
            <a:off x="6577628" y="2090067"/>
            <a:ext cx="4537500" cy="38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16"/>
          <p:cNvGrpSpPr/>
          <p:nvPr/>
        </p:nvGrpSpPr>
        <p:grpSpPr>
          <a:xfrm>
            <a:off x="0" y="507989"/>
            <a:ext cx="1383765" cy="1355017"/>
            <a:chOff x="0" y="381001"/>
            <a:chExt cx="1037850" cy="1016288"/>
          </a:xfrm>
        </p:grpSpPr>
        <p:sp>
          <p:nvSpPr>
            <p:cNvPr id="60" name="Google Shape;60;p1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" name="Google Shape;62;p16"/>
          <p:cNvSpPr txBox="1"/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63" name="Google Shape;63;p1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7"/>
          <p:cNvGrpSpPr/>
          <p:nvPr/>
        </p:nvGrpSpPr>
        <p:grpSpPr>
          <a:xfrm>
            <a:off x="0" y="507989"/>
            <a:ext cx="1383765" cy="1355017"/>
            <a:chOff x="0" y="381001"/>
            <a:chExt cx="1037850" cy="1016288"/>
          </a:xfrm>
        </p:grpSpPr>
        <p:sp>
          <p:nvSpPr>
            <p:cNvPr id="66" name="Google Shape;66;p1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1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" name="Google Shape;68;p17"/>
          <p:cNvSpPr txBox="1"/>
          <p:nvPr>
            <p:ph type="title"/>
          </p:nvPr>
        </p:nvSpPr>
        <p:spPr>
          <a:xfrm>
            <a:off x="1730000" y="525000"/>
            <a:ext cx="5065200" cy="19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69" name="Google Shape;69;p17"/>
          <p:cNvSpPr txBox="1"/>
          <p:nvPr>
            <p:ph idx="1" type="body"/>
          </p:nvPr>
        </p:nvSpPr>
        <p:spPr>
          <a:xfrm>
            <a:off x="1730000" y="2630067"/>
            <a:ext cx="5065200" cy="3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18"/>
          <p:cNvGrpSpPr/>
          <p:nvPr/>
        </p:nvGrpSpPr>
        <p:grpSpPr>
          <a:xfrm>
            <a:off x="5875053" y="0"/>
            <a:ext cx="6316642" cy="6857829"/>
            <a:chOff x="4406400" y="0"/>
            <a:chExt cx="4737600" cy="5143500"/>
          </a:xfrm>
        </p:grpSpPr>
        <p:sp>
          <p:nvSpPr>
            <p:cNvPr id="73" name="Google Shape;73;p1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2352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2352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1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1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1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1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" name="Google Shape;91;p18"/>
          <p:cNvSpPr txBox="1"/>
          <p:nvPr>
            <p:ph type="title"/>
          </p:nvPr>
        </p:nvSpPr>
        <p:spPr>
          <a:xfrm>
            <a:off x="1098467" y="1155700"/>
            <a:ext cx="6116100" cy="469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9"/>
          <p:cNvGrpSpPr/>
          <p:nvPr/>
        </p:nvGrpSpPr>
        <p:grpSpPr>
          <a:xfrm>
            <a:off x="0" y="507989"/>
            <a:ext cx="1383765" cy="1355017"/>
            <a:chOff x="0" y="381001"/>
            <a:chExt cx="1037850" cy="1016288"/>
          </a:xfrm>
        </p:grpSpPr>
        <p:sp>
          <p:nvSpPr>
            <p:cNvPr id="95" name="Google Shape;95;p1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" name="Google Shape;97;p19"/>
          <p:cNvSpPr txBox="1"/>
          <p:nvPr>
            <p:ph type="title"/>
          </p:nvPr>
        </p:nvSpPr>
        <p:spPr>
          <a:xfrm>
            <a:off x="1730000" y="2211100"/>
            <a:ext cx="4048500" cy="23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8" name="Google Shape;98;p19"/>
          <p:cNvSpPr txBox="1"/>
          <p:nvPr>
            <p:ph idx="1" type="subTitle"/>
          </p:nvPr>
        </p:nvSpPr>
        <p:spPr>
          <a:xfrm>
            <a:off x="1730000" y="4717333"/>
            <a:ext cx="4048500" cy="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99" name="Google Shape;99;p19"/>
          <p:cNvSpPr txBox="1"/>
          <p:nvPr>
            <p:ph idx="2" type="body"/>
          </p:nvPr>
        </p:nvSpPr>
        <p:spPr>
          <a:xfrm>
            <a:off x="6197600" y="2262133"/>
            <a:ext cx="4902300" cy="31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0"/>
          <p:cNvGrpSpPr/>
          <p:nvPr/>
        </p:nvGrpSpPr>
        <p:grpSpPr>
          <a:xfrm>
            <a:off x="0" y="5504636"/>
            <a:ext cx="931877" cy="912853"/>
            <a:chOff x="0" y="3785672"/>
            <a:chExt cx="698925" cy="684657"/>
          </a:xfrm>
        </p:grpSpPr>
        <p:sp>
          <p:nvSpPr>
            <p:cNvPr id="103" name="Google Shape;103;p2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8627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2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8627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1083633" y="5740500"/>
            <a:ext cx="92481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106" name="Google Shape;106;p2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1"/>
          <p:cNvGrpSpPr/>
          <p:nvPr/>
        </p:nvGrpSpPr>
        <p:grpSpPr>
          <a:xfrm>
            <a:off x="5875053" y="0"/>
            <a:ext cx="6316642" cy="6857248"/>
            <a:chOff x="4406400" y="0"/>
            <a:chExt cx="4737600" cy="5143065"/>
          </a:xfrm>
        </p:grpSpPr>
        <p:sp>
          <p:nvSpPr>
            <p:cNvPr id="109" name="Google Shape;109;p2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2352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2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2352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2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2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2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2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2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2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2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2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2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2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2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2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2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7" name="Google Shape;127;p21"/>
          <p:cNvSpPr txBox="1"/>
          <p:nvPr>
            <p:ph hasCustomPrompt="1" type="title"/>
          </p:nvPr>
        </p:nvSpPr>
        <p:spPr>
          <a:xfrm>
            <a:off x="1098467" y="1712900"/>
            <a:ext cx="63681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9pPr>
          </a:lstStyle>
          <a:p>
            <a:r>
              <a:t>xx%</a:t>
            </a:r>
          </a:p>
        </p:txBody>
      </p:sp>
      <p:sp>
        <p:nvSpPr>
          <p:cNvPr id="128" name="Google Shape;128;p21"/>
          <p:cNvSpPr txBox="1"/>
          <p:nvPr>
            <p:ph idx="1" type="body"/>
          </p:nvPr>
        </p:nvSpPr>
        <p:spPr>
          <a:xfrm>
            <a:off x="1098467" y="3524166"/>
            <a:ext cx="6368100" cy="16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29" name="Google Shape;129;p2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b="0" i="0" sz="3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b="0" i="0" sz="3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b="0" i="0" sz="3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b="0" i="0" sz="3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b="0" i="0" sz="3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b="0" i="0" sz="3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b="0" i="0" sz="3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b="0" i="0" sz="3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b="0" i="0" sz="3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ato"/>
              <a:buChar char="●"/>
              <a:defRPr b="0" i="0" sz="17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b="0" i="0" sz="15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b="0" i="0" sz="15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  <a:defRPr b="0" i="0" sz="15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b="0" i="0" sz="15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b="0" i="0" sz="15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  <a:defRPr b="0" i="0" sz="15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b="0" i="0" sz="15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b="0" i="0" sz="15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20.png"/><Relationship Id="rId5" Type="http://schemas.openxmlformats.org/officeDocument/2006/relationships/image" Target="../media/image3.png"/><Relationship Id="rId6" Type="http://schemas.openxmlformats.org/officeDocument/2006/relationships/image" Target="../media/image11.png"/><Relationship Id="rId7" Type="http://schemas.openxmlformats.org/officeDocument/2006/relationships/image" Target="../media/image13.png"/><Relationship Id="rId8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9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16.png"/><Relationship Id="rId7" Type="http://schemas.openxmlformats.org/officeDocument/2006/relationships/image" Target="../media/image10.png"/><Relationship Id="rId8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17.png"/><Relationship Id="rId7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"/>
          <p:cNvSpPr txBox="1"/>
          <p:nvPr/>
        </p:nvSpPr>
        <p:spPr>
          <a:xfrm>
            <a:off x="1720453" y="2217390"/>
            <a:ext cx="8751000" cy="16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      Guess the word game</a:t>
            </a:r>
            <a:endParaRPr b="1" i="0" sz="5400" u="none" cap="none" strike="noStrike">
              <a:solidFill>
                <a:srgbClr val="F1F5F9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endParaRPr b="1" i="0" sz="5400" u="none" cap="none" strike="noStrike">
              <a:solidFill>
                <a:schemeClr val="accen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6" name="Google Shape;136;p1"/>
          <p:cNvSpPr txBox="1"/>
          <p:nvPr/>
        </p:nvSpPr>
        <p:spPr>
          <a:xfrm flipH="1">
            <a:off x="2505100" y="3429000"/>
            <a:ext cx="74892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 Comprehensive Analysis of Logic, Architecture, and Challenges in C Programming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98526"/>
            <a:ext cx="3492549" cy="27943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98526"/>
            <a:ext cx="3492549" cy="27943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98526"/>
            <a:ext cx="3492549" cy="2794396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3"/>
          <p:cNvSpPr txBox="1"/>
          <p:nvPr/>
        </p:nvSpPr>
        <p:spPr>
          <a:xfrm>
            <a:off x="794225" y="3441501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Initialization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"/>
          <p:cNvSpPr txBox="1"/>
          <p:nvPr/>
        </p:nvSpPr>
        <p:spPr>
          <a:xfrm>
            <a:off x="866775" y="3870126"/>
            <a:ext cx="2901999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Allocates memory, loads the dictionary from a file, and uses srand() to select a random target word for the session.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"/>
          <p:cNvSpPr txBox="1"/>
          <p:nvPr/>
        </p:nvSpPr>
        <p:spPr>
          <a:xfrm>
            <a:off x="4572524" y="3441501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Logic Engine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"/>
          <p:cNvSpPr txBox="1"/>
          <p:nvPr/>
        </p:nvSpPr>
        <p:spPr>
          <a:xfrm>
            <a:off x="4645074" y="3870126"/>
            <a:ext cx="2901999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main loop handles user input via stdin, compares characters against the target array, and updates the masked string.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"/>
          <p:cNvSpPr txBox="1"/>
          <p:nvPr/>
        </p:nvSpPr>
        <p:spPr>
          <a:xfrm>
            <a:off x="8350824" y="3441501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Termination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"/>
          <p:cNvSpPr txBox="1"/>
          <p:nvPr/>
        </p:nvSpPr>
        <p:spPr>
          <a:xfrm>
            <a:off x="8423374" y="3870126"/>
            <a:ext cx="2901999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Determines win/loss conditions based on lives counter or string completion, then triggers memory cleanup via free().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51" name="Google Shape;151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27200" y="282237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05500" y="282237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07612" y="2822376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3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Core Modules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4"/>
          <p:cNvSpPr/>
          <p:nvPr/>
        </p:nvSpPr>
        <p:spPr>
          <a:xfrm>
            <a:off x="1047750" y="3519487"/>
            <a:ext cx="10096500" cy="381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1596330" y="3328987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 txBox="1"/>
          <p:nvPr/>
        </p:nvSpPr>
        <p:spPr>
          <a:xfrm>
            <a:off x="510733" y="3900487"/>
            <a:ext cx="255219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Start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4"/>
          <p:cNvSpPr txBox="1"/>
          <p:nvPr/>
        </p:nvSpPr>
        <p:spPr>
          <a:xfrm>
            <a:off x="571500" y="4348162"/>
            <a:ext cx="243066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Load Word Bank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4469010" y="3328987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 txBox="1"/>
          <p:nvPr/>
        </p:nvSpPr>
        <p:spPr>
          <a:xfrm>
            <a:off x="3383413" y="3900487"/>
            <a:ext cx="255219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Input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4"/>
          <p:cNvSpPr txBox="1"/>
          <p:nvPr/>
        </p:nvSpPr>
        <p:spPr>
          <a:xfrm>
            <a:off x="3444180" y="4348162"/>
            <a:ext cx="243066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Read Char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7341691" y="3328987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 txBox="1"/>
          <p:nvPr/>
        </p:nvSpPr>
        <p:spPr>
          <a:xfrm>
            <a:off x="6256094" y="3900487"/>
            <a:ext cx="255219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Process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4"/>
          <p:cNvSpPr txBox="1"/>
          <p:nvPr/>
        </p:nvSpPr>
        <p:spPr>
          <a:xfrm>
            <a:off x="6316860" y="4348162"/>
            <a:ext cx="243066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Validate &amp; Update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10214371" y="3328987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 txBox="1"/>
          <p:nvPr/>
        </p:nvSpPr>
        <p:spPr>
          <a:xfrm>
            <a:off x="9128774" y="3900487"/>
            <a:ext cx="255219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4"/>
          <p:cNvSpPr txBox="1"/>
          <p:nvPr/>
        </p:nvSpPr>
        <p:spPr>
          <a:xfrm>
            <a:off x="9189541" y="4348162"/>
            <a:ext cx="243066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Result &amp; Cleanup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Execution Flow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"/>
          <p:cNvSpPr txBox="1"/>
          <p:nvPr/>
        </p:nvSpPr>
        <p:spPr>
          <a:xfrm>
            <a:off x="571500" y="571500"/>
            <a:ext cx="52006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String Logic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5"/>
          <p:cNvSpPr txBox="1"/>
          <p:nvPr/>
        </p:nvSpPr>
        <p:spPr>
          <a:xfrm>
            <a:off x="2219325" y="2309812"/>
            <a:ext cx="174021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1" i="0" lang="en-US" sz="1404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Pointer Manipulation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5"/>
          <p:cNvSpPr txBox="1"/>
          <p:nvPr/>
        </p:nvSpPr>
        <p:spPr>
          <a:xfrm>
            <a:off x="571500" y="2719387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At the heart of the game is efficient string handling. The project utilizes character pointers to traverse arrays without the overhead of copying data.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5"/>
          <p:cNvSpPr txBox="1"/>
          <p:nvPr/>
        </p:nvSpPr>
        <p:spPr>
          <a:xfrm>
            <a:off x="2152650" y="4005262"/>
            <a:ext cx="188023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1" i="0" lang="en-US" sz="1404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Memory Management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571500" y="4414837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Dynamic memory allocation is used to handle word lists of varying sizes, ensuring the program is memory efficient regardless of dictionary size.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5"/>
          <p:cNvSpPr txBox="1"/>
          <p:nvPr/>
        </p:nvSpPr>
        <p:spPr>
          <a:xfrm>
            <a:off x="0" y="2727569"/>
            <a:ext cx="12192000" cy="4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84" name="Google Shape;18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72300" y="0"/>
            <a:ext cx="6227399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19300"/>
            <a:ext cx="3492549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019300"/>
            <a:ext cx="3492549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019300"/>
            <a:ext cx="3492549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6"/>
          <p:cNvSpPr txBox="1"/>
          <p:nvPr/>
        </p:nvSpPr>
        <p:spPr>
          <a:xfrm>
            <a:off x="484186" y="4257675"/>
            <a:ext cx="366717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1" i="0" lang="en-US" sz="1404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UI Limitations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6"/>
          <p:cNvSpPr txBox="1"/>
          <p:nvPr/>
        </p:nvSpPr>
        <p:spPr>
          <a:xfrm>
            <a:off x="571500" y="4667250"/>
            <a:ext cx="34925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Lack of native graphics leads to a purely text-based experience, which is less engaging for modern users.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6"/>
          <p:cNvSpPr txBox="1"/>
          <p:nvPr/>
        </p:nvSpPr>
        <p:spPr>
          <a:xfrm>
            <a:off x="4262485" y="4257675"/>
            <a:ext cx="366717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1" i="0" lang="en-US" sz="1404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Memory Leaks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6"/>
          <p:cNvSpPr txBox="1"/>
          <p:nvPr/>
        </p:nvSpPr>
        <p:spPr>
          <a:xfrm>
            <a:off x="4349799" y="4667250"/>
            <a:ext cx="34925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Manual management requires strict free() calls; missing one causes leaks over long sessions.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6"/>
          <p:cNvSpPr txBox="1"/>
          <p:nvPr/>
        </p:nvSpPr>
        <p:spPr>
          <a:xfrm>
            <a:off x="8040785" y="4257675"/>
            <a:ext cx="366717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1" i="0" lang="en-US" sz="1404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Buffer Overflow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6"/>
          <p:cNvSpPr txBox="1"/>
          <p:nvPr/>
        </p:nvSpPr>
        <p:spPr>
          <a:xfrm>
            <a:off x="8128099" y="4667250"/>
            <a:ext cx="34925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Using functions like gets() can allow input to exceed array bounds, posing security risks.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99" name="Google Shape;199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2028825"/>
            <a:ext cx="3473499" cy="2076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59324" y="2028825"/>
            <a:ext cx="3473499" cy="2076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37624" y="2028825"/>
            <a:ext cx="3473499" cy="2076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6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Key Technical Drawbacks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95562"/>
            <a:ext cx="5334000" cy="2600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595562"/>
            <a:ext cx="5334000" cy="260032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7"/>
          <p:cNvSpPr txBox="1"/>
          <p:nvPr/>
        </p:nvSpPr>
        <p:spPr>
          <a:xfrm>
            <a:off x="962025" y="2986087"/>
            <a:ext cx="478059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1" i="0" lang="en-US" sz="1404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Visual Upgrades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7"/>
          <p:cNvSpPr txBox="1"/>
          <p:nvPr/>
        </p:nvSpPr>
        <p:spPr>
          <a:xfrm>
            <a:off x="962025" y="3395662"/>
            <a:ext cx="45529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To overcome UI limitations, we implement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ANSI Escape Codes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to add color to the terminal output (e.g., Red for errors, Green for success). For a GUI-like feel, the ncurses library can be integrated.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7"/>
          <p:cNvSpPr txBox="1"/>
          <p:nvPr/>
        </p:nvSpPr>
        <p:spPr>
          <a:xfrm>
            <a:off x="6677025" y="2986087"/>
            <a:ext cx="478059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1" i="0" lang="en-US" sz="1404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Platform Independence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7"/>
          <p:cNvSpPr txBox="1"/>
          <p:nvPr/>
        </p:nvSpPr>
        <p:spPr>
          <a:xfrm>
            <a:off x="6677025" y="3395662"/>
            <a:ext cx="4552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System calls like cls vs clear break portability. We solve this using preprocessor directives: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7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Enhancing the Experience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9" name="Google Shape;21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8"/>
          <p:cNvSpPr txBox="1"/>
          <p:nvPr/>
        </p:nvSpPr>
        <p:spPr>
          <a:xfrm>
            <a:off x="952500" y="2828925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Input Sanitization: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Replace gets() with fgets() to strictly limit input length and prevent buffer overflows.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8"/>
          <p:cNvSpPr txBox="1"/>
          <p:nvPr/>
        </p:nvSpPr>
        <p:spPr>
          <a:xfrm>
            <a:off x="952500" y="3324225"/>
            <a:ext cx="10668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Memory Cleanup: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Implement a dedicated cleanup() function that runs at the end of the main() loop to free all allocated pointers.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8"/>
          <p:cNvSpPr txBox="1"/>
          <p:nvPr/>
        </p:nvSpPr>
        <p:spPr>
          <a:xfrm>
            <a:off x="952500" y="4124325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Debugging Tools: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Utilize tools like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Valgrind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during the development phase to automatically detect and report memory leaks.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8"/>
          <p:cNvSpPr txBox="1"/>
          <p:nvPr/>
        </p:nvSpPr>
        <p:spPr>
          <a:xfrm>
            <a:off x="952500" y="4619625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Modular Design: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Separate logic into distinct functions to improve readability and make debugging specific modules easier.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24" name="Google Shape;22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622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357562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1576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652962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8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Robust Coding Practices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3" name="Google Shape;23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9"/>
          <p:cNvSpPr txBox="1"/>
          <p:nvPr/>
        </p:nvSpPr>
        <p:spPr>
          <a:xfrm>
            <a:off x="4157662" y="2390775"/>
            <a:ext cx="407050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Thank You!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